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REMARKS:</a:t>
            </a:r>
          </a:p>
          <a:p>
            <a:r>
              <a:t>Welcome students. Today we connect the geometry of motion with rigorous calculus.</a:t>
            </a:r>
          </a:p>
          <a:p>
            <a:r>
              <a:t>We will discover how derivatives act as velocity detectors for curves, why horizontal tangents can deceive us, and how engineering systems achieve peak efficiency through extremum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animation. Note how the probe ascends and descends. Highlight that slope is positive on ascent, zero at crests, negative on descent.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Engage students by sketching tangent arrows live. Emphasize that zero slope is the boundary marker between climbing and falling.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Clarify that 'Local' requires an open ball (c-delta, c+delta), whereas 'Absolute' compares against all x in domain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distinction prevents severe exam errors. Reinforce that local extrema are interior phenomena.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continuous master animation. Tap video to pause and discuss any intermediate step with Apple Pencil.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f(x) = x^3 - 3x as the primary worked model. Point travels from x = -2.2 to x = 2.2, traversing a crest and a trough.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clip. Point out the color change of the tangent line: Cyan (positive slope) to Amber (zero slope) to Coral (negative slope).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the students through applying the power rule live. Write down the derivative in the scratchpad.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Critical numbers occur where f'(c) = 0 OR where f'(c) does not exist (DNE), provided c is in the domain!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 misconception buster: many students forget to test points where denominator of f'(x)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Tangent line goes horizontal at x=0, but the curve continues climbing. Zero derivative is NECESSARY, not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attention to logic arrows: P =&gt; Q does not mean Q =&gt; P. This is tested on every university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Point out how factoring reveals the exact roots where the velocity of the curve momentarily freezes.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The number line is partitioned by critical numbers into (-inf, -1), (-1, 1), and (1, inf).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students the factored testing method: instead of computing 3x^2-3, check signs of 3*(x-1)*(x+1)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Emphasize: f(-1) = (-1)^3 - 3(-1) = -1 + 3 = +2 -&gt; Local Max (-1, 2). f(1) = (1)^3 - 3(1) = -2 -&gt; Local Min (1, 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Note the two visual bowls: Concave Down (cap) with negative second derivative, Concave Up (cup) with positive second derivative.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EMPHASIS:</a:t>
            </a:r>
          </a:p>
          <a:p>
            <a:r>
              <a:t>Stress the 'Inconclusive' case: for f(x)=x^4, f''(0)=0 and it has a min.</a:t>
            </a:r>
          </a:p>
          <a:p>
            <a:r>
              <a:t>For f(x)=-x^4, f''(0)=0 and it has a max. For f(x)=x^3, f''(0)=0 and it has neither!</a:t>
            </a:r>
          </a:p>
          <a:p>
            <a:r>
              <a:t>If f''(c)=0, never guess. Revert immediately to the First Derivative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Candidate evaluation: interior critical point x=1 -&gt; f(1)=-2. Endpoints: x=-0.5 -&gt; f(-0.5)=1.375; x=2.5 -&gt; f(2.5)=8.125 (Winner!).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Highlight the engineering trade-off: at R_L = 0, current is maximum but voltage is 0 (P=0). At R_L = inf, voltage is maximum but current is 0 (P=0).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WRAP-UP &amp; EXIT TICKET:</a:t>
            </a:r>
          </a:p>
          <a:p>
            <a:r>
              <a:t>Give students 4 minutes to work. Walk the room or display Apple Pencil annotations.</a:t>
            </a:r>
          </a:p>
          <a:p>
            <a:r>
              <a:t>Reveal the key insight: The local max (-1, 12) is soundly beaten by the endpoint (4, 37)!</a:t>
            </a:r>
          </a:p>
          <a:p>
            <a:r>
              <a:t>Remind students: Never neglect endpoints in engineering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998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DIFFERENTIAL CALCULUS FOR ENGINEERS</a:t>
            </a:r>
          </a:p>
          <a:p>
            <a:pPr>
              <a:spcBef>
                <a:spcPts val="1400"/>
              </a:spcBef>
              <a:defRPr sz="3600" b="1">
                <a:solidFill>
                  <a:srgbClr val="F8FAFC"/>
                </a:solidFill>
              </a:defRPr>
            </a:pPr>
            <a:r>
              <a:t>Maxima &amp; Minima: Dynamic Motion, Extrema Tests &amp; Optimization</a:t>
            </a:r>
          </a:p>
          <a:p>
            <a:pPr>
              <a:spcBef>
                <a:spcPts val="1400"/>
              </a:spcBef>
              <a:defRPr sz="1800">
                <a:solidFill>
                  <a:srgbClr val="F59E0B"/>
                </a:solidFill>
              </a:defRPr>
            </a:pPr>
            <a:r>
              <a:t>A Motion-Graphics Interactive Lecture Designed for Live iPad &amp; Apple Pencil Annotation</a:t>
            </a:r>
          </a:p>
          <a:p>
            <a:pPr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Core Function: f(x) = x³ - 3x  |  Engineering Application: Maximum Power Transfer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Lecture Trajectory: From Kinetic Intuition to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Visual Motion &amp; Critical Intuition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Moving tangent vectors, slope zero conditions, and singularities (corners/cusps).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First Derivative Test &amp; Sign Charts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Factorization morphing, interval sign sampling, and direction transitions.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43F5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Second Derivative &amp; Concavity Bending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Differential curvature f''(x), concavity bowls, and inflection terraces.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Closed-Interval Engineering Optimization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Extreme Value Theorem, candidate matrix, and Maximum Power Transfer.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Terrain Exploration: The Geometry of Peaks &amp; Valleys</a:t>
            </a:r>
          </a:p>
        </p:txBody>
      </p:sp>
      <p:pic>
        <p:nvPicPr>
          <p:cNvPr id="4" name="Scene01_HookHi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Identifying Extrema along an Elevation Profile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Ask the lecture hall: 'As our exploration probe traverses this mountain range, what exact instantaneous property characterizes the true summits and lowest valleys?'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Direction of Motion &amp; Tangent Equilibrium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1_HookHill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Increasing interval: Rate of climb f'(x) &gt;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Peak crest: Instantaneous horizontal leveling f'(x) =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Decreasing interval: Rate of descent f'(x) &lt;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Valley floor: Leveling out before re-ascent f'(x) =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TERRAIN TANGENT INCLINE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tangent lines with Apple Pencil at x = -2.5, x = -1.2, x = 0, and x = 1.8.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algebraic inequality for slope: m &gt; 0 vs. m = 0 vs. m &lt; 0.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Circle the global highest point vs local sub-crest.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Topological Definitions: Local vs. Absolute Extrema</a:t>
            </a:r>
          </a:p>
        </p:txBody>
      </p:sp>
      <p:pic>
        <p:nvPicPr>
          <p:cNvPr id="4" name="Scene02_LocalVsAbsolut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Open Neighborhoods vs. Entire Domain Supremum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Key Conceptual Question: 'Can a local maximum have a lower numerical value than a local minimum in the same function?'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The Neighborhood Test &amp; Boundary Caps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2_LocalVsAbsolut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Local Max: f(c) &gt;= f(x) for all x in (c - delta, c + delta)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Boundary points on [a, b] cannot contain two-sided open intervals!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Therefore: Boundary endpoints CANNOT be Local Extrema (by standard definition).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Endpoints CAN and frequently DO serve as Absolute Extrema!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NEIGHBORHOOD VERIFICATION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an open interval (c - δ, c + δ) around the local peak.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Show why the endpoint x = b cannot fit a two-sided ball.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Annotate why the right boundary is the Global Maximum.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🌟 Unified Master Sequence: The Cubic Manifold</a:t>
            </a:r>
          </a:p>
        </p:txBody>
      </p:sp>
      <p:pic>
        <p:nvPicPr>
          <p:cNvPr id="4" name="SignatureSequenceMast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Continuous 3Blue1Brown Kinematic Derivation of f(x) = x³ - 3x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Watch the complete sequence flow: curve creation, dynamic rotating slope tangent, equation morphing 3x² - 3 -&gt; 3(x-1)(x+1) = 0, and concavity verification.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Signature Function: f(x) = x³ - 3x Trajectory</a:t>
            </a:r>
          </a:p>
        </p:txBody>
      </p:sp>
      <p:pic>
        <p:nvPicPr>
          <p:cNvPr id="4" name="SignatureScene1_TheFunc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Tracking the Coordinate State of an Odd Cubic Curve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Observe the symmetry: f(-x) = -f(x). What does odd symmetry tell us about the relationship between maxima and minima?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Kinetic Tangent: Dynamic Slope Telemetry</a:t>
            </a:r>
          </a:p>
        </p:txBody>
      </p:sp>
      <p:pic>
        <p:nvPicPr>
          <p:cNvPr id="4" name="SignatureScene2_TheTangen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Visualizing the Derivative as an Instantaneous Vector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the real-time slope readout: as the point passes x = -1, the slope m collapses precisely from positive to zero to negative.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Instantaneous Slope Derivation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2_TheTangen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Given: f(x) = x³ - 3x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Derivative: f'(x) = d/dx [x³ - 3x] = 3x² - 3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At x = -1: f'(-1) = 3(-1)² - 3 = 0  (Horizontal)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At x = 0:  f'(0)  = 3(0)² - 3 = -3  (Steepest descent)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DIFFERENTIATION FROM FIRST PRINCIPLES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Derive f'(x) step-by-step using the Power Rule.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Calculate f'(0) live and write why this represents maximum descent rate.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Calculate f'(1) and verify the second horizontal tangent.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Singularities: When Derivatives Fail to Exist</a:t>
            </a:r>
          </a:p>
        </p:txBody>
      </p:sp>
      <p:pic>
        <p:nvPicPr>
          <p:cNvPr id="4" name="Scene03_SingularitiesDN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Critical Points Beyond Smooth Tangents: Corners &amp; Cusps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Critical Challenge: 'Does a curve need a smooth horizontal tangent to have an absolute minimum? Look at |x| and x^(2/3).'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Left vs. Right Difference Quotients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3_SingularitiesDN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Absolute Value f(x) = |x| at x = 0: lim(x-&gt;0-) = -1 != lim(x-&gt;0+) = +1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Power Function f(x) = x^(2/3): f'(x) = (2/3)x^(-1/3) = 2/(3 * x^(1/3))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As x -&gt; 0, f'(x) -&gt; ±∞ (Vertical Tangent / Cusp)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Both functions reach a valid, indisputable Global Minimum at (0, 0)!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SINGULARITY LIMIT ANALYSIS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Compute lim_{h-&gt;0-} and lim_{h-&gt;0+} for |h|/h live.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formal two-part definition of Critical Number c: (1) f'(c)=0 OR (2) f'(c) DNE, with c in Domain.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Highlight common student trap: 'Assuming critical points only come from setting derivative equal to 0'.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Critical Trap: When f'(c) = 0 Yields NO Extremum</a:t>
            </a:r>
          </a:p>
        </p:txBody>
      </p:sp>
      <p:pic>
        <p:nvPicPr>
          <p:cNvPr id="4" name="SignatureScene7_Counterexamp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Stationary Inflection Point on g(x) = x³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Examine g(x) = x³: g'(0) = 0. The tangent is perfectly horizontal. Is (0, 0) a maximum or a minimum?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Inflection Terraces &amp; Necessary vs. Sufficient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7_Counterexampl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Theorem (Fermat's): If f has a local extremum at c and f'(c) exists, then f'(c) = 0.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Converse: 'If f'(c) = 0, then f has an extremum at c' is FALSE!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For g(x) = x³: g'(x) = 3x² &gt;= 0 for all x.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Sign test: (+) before 0, and (+) after 0. No sign reversal!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LOGICAL COUNTEREXAMPLE PROOF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logic implication: Extremum =&gt; f'(c)=0 (True), f'(c)=0 =&gt; Extremum (False).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Sketch the sign line for 3x² showing (+) -&gt; (0) -&gt; (+).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Define 'Stationary Inflection Point' (Horizontal inflection point).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Algebraic Morphing: Factoring the Derivative</a:t>
            </a:r>
          </a:p>
        </p:txBody>
      </p:sp>
      <p:pic>
        <p:nvPicPr>
          <p:cNvPr id="4" name="SignatureScene3_EquationMorp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3x² - 3  ==&gt;  3(x² - 1)  ==&gt;  3(x - 1)(x + 1) = 0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algebraic zeros x = -1 and x = +1 project vertically into physical coordinates on the function curve.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First Derivative Test: Dynamic Sign Partitioning</a:t>
            </a:r>
          </a:p>
        </p:txBody>
      </p:sp>
      <p:pic>
        <p:nvPicPr>
          <p:cNvPr id="4" name="SignatureScene4_DerivativeTes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Number Line Sampling &amp; Directional Transitions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Watch the sign chart reveal: positive slopes push the curve up, zero halts it, negative slopes pull it down.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First Derivative Sign Chart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4_DerivativeTe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1: (-inf, -1) -&gt; Test x = -2: f'(-2) = 3(-2)² - 3 = +9 &gt; 0 (INC)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2: (-1, 1)    -&gt; Test x = 0:  f'(0) = 3(0)² - 3 = -3 &lt; 0   (DEC)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3: (1, inf)   -&gt; Test x = +2: f'(+2) = 3(2)² - 3 = +9 &gt; 0  (INC)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Conclusion: (+ to -) traps a LOCAL MAX; (- to +) holds a LOCAL MIN.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INTERVAL TEST TABLE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the 3-row sign chart table with Apple Pencil.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Fill in test values and show factor signs: (x-1) and (x+1).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the physical climbing/falling arrows: ↗ ↘ ↗.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Coordinate Verification: Locating Exact Extrema</a:t>
            </a:r>
          </a:p>
        </p:txBody>
      </p:sp>
      <p:pic>
        <p:nvPicPr>
          <p:cNvPr id="4" name="SignatureScene5_ExtremaReve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Evaluating Critical Numbers in the ORIGINAL Function f(x)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Common blunder alert: Students plug x = -1 into f'(x) and get 0! Where must we substitute to find the height of the curve?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Second Derivative Test: Curvature &amp; Concavity Bending</a:t>
            </a:r>
          </a:p>
        </p:txBody>
      </p:sp>
      <p:pic>
        <p:nvPicPr>
          <p:cNvPr id="4" name="SignatureScene6_SecondDeriv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f''(x) = 6x Measures the Rate of Change of Slope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Physical Intuition: If f'(x) = 0 and f''(x) &lt; 0, slopes are decreasing (positive -&gt; 0 -&gt; negative). The curve MUST be concave down (trapping a peak).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THEORETICAL COMPARISON // EXAM STRATEGY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Extrema Decision Matrix: 1st vs. 2nd Derivative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FIRST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Universal. Works for smooth points AND singularities (corners/cusps).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Checks sign change of f'(x) across x = c.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(+ to -) =&gt; Local Max</a:t>
            </a:r>
            <a:br/>
            <a:r>
              <a:t>(- to +) =&gt; Local Min</a:t>
            </a:r>
            <a:br/>
            <a:r>
              <a:t>(No change) =&gt; Neither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Requires picking test points in every interval.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Always reliable. Fallback when 2nd test fails.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SECOND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Restricted. Requires f'(c) = 0 and f''(c) to exist.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Evaluates single point concavity f''(c) directly.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f''(c) &lt; 0 =&gt; Concave Down =&gt; Local Max</a:t>
            </a:r>
            <a:br/>
            <a:r>
              <a:t>f''(c) &gt; 0 =&gt; Concave Up =&gt; Local Min</a:t>
            </a:r>
            <a:br/>
            <a:r>
              <a:t>f''(c) = 0 =&gt; INCONCLUSIVE (Must use 1st test!)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Fails on cusps, corners, and flat inflection points.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Faster when differentiation is easy, but fragile.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Closed Interval Method: The Extreme Value Theorem</a:t>
            </a:r>
          </a:p>
        </p:txBody>
      </p:sp>
      <p:pic>
        <p:nvPicPr>
          <p:cNvPr id="4" name="Scene04_ClosedIntervalMetho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f(x) = x³ - 3x Restricted to the Closed Interval [-0.5, 2.5]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local maximum at x = -1 is EXCLUDED because it lies outside [-0.5, 2.5]! Where does the absolute maximum occur?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Optimization: Maximum Power Transfer Theorem</a:t>
            </a:r>
          </a:p>
        </p:txBody>
      </p:sp>
      <p:pic>
        <p:nvPicPr>
          <p:cNvPr id="4" name="Scene05_MaxPowerTransf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Maximizing Load Power P(R_L) = V_th² * R_L / (R_th + R_L)²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Differentiating with the Quotient Rule reveals: dP/dR_L = 0 occurs precisely when R_load = R_thevenin! Impedance matching in RF and audio circuits.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STUDENT ACTIVE LEARNING // LIVE DERIVATION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Practice Challenge &amp; 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ACTIVE LEARNING CHALLENGE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Analyze the structural response function:</a:t>
            </a:r>
          </a:p>
          <a:p>
            <a:pPr>
              <a:spcBef>
                <a:spcPts val="800"/>
              </a:spcBef>
              <a:defRPr sz="1600" b="1">
                <a:solidFill>
                  <a:srgbClr val="38BDF8"/>
                </a:solidFill>
              </a:defRPr>
            </a:pPr>
            <a:r>
              <a:t>f(x) = 2x³ - 3x² - 12x + 5   on   [-2, 4]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1. Compute f'(x) and factor completely.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2. Identify all critical numbers inside [-2, 4].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3. Apply Second Derivative Test to classify local extrema.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4. Construct the EVT candidate table (criticals + endpoints).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5. Identify Global Maximum and Global Minimum coordinates.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850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SOLUTION CHECKLIST &amp; ANSWER KEY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f'(x) = 6x² - 6x - 12 = 6(x - 2)(x + 1)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CRITICAL NUMBERS: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x = -1   and   x = 2   (both inside [-2, 4])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SECOND 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f''(x) = 12x - 6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-1: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f''(-1) = -18 &lt; 0  =&gt;  Local Max at (-1, 12)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2: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f''(2) = +18 &gt; 0   =&gt;  Local Min at (2, -15)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CANDIDATE TABLE: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f(-2) = 1</a:t>
            </a:r>
            <a:br/>
            <a:r>
              <a:t>f(-1) = 12</a:t>
            </a:r>
            <a:br/>
            <a:r>
              <a:t>f(2)  = -15</a:t>
            </a:r>
            <a:br/>
            <a:r>
              <a:t>f(4)  = 37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GLOBAL EXTREMA: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Global Max: (4, 37)  [Endpoint!]</a:t>
            </a:r>
            <a:br/>
            <a:r>
              <a:t>Global Min: (2, -15) [Interior Critical!]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