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01 / 21):</a:t>
            </a:r>
          </a:p>
          <a:p>
            <a:r>
              <a:t>Introduce the lecture scope. Contrast static functions y = f(x) with dynamic differential equations dy/dt = f(t, y). Explain how rates of change define physical 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02 / 21):</a:t>
            </a:r>
          </a:p>
          <a:p>
            <a:r>
              <a:t>Walk through the universal 4-step framework. Emphasize that all rate-driven physical processes (thermal, nuclear, mechanical) follow this identical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03 / 21):</a:t>
            </a:r>
          </a:p>
          <a:p>
            <a:r>
              <a:t>Demonstrate the algebraic mechanics of separation. Highlight how Leibniz differentials dy and dt are separated across the equality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04 / 21):</a:t>
            </a:r>
          </a:p>
          <a:p>
            <a:r>
              <a:t>Explain why dT/dt is proportional to (T - Ts). When T &gt; Ts, the body cools (dT/dt &lt; 0). Point out that the curve never crosses Ts under pure convective cooling.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05 / 21):</a:t>
            </a:r>
          </a:p>
          <a:p>
            <a:r>
              <a:t>Step through each line of the derivation. Emphasize how the initial condition evaluates the constant C1 as the initial temperature excess.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06 / 21):</a:t>
            </a:r>
          </a:p>
          <a:p>
            <a:r>
              <a:t>State MATHalino Problem 01 data. Ask students to deduce e^(-3k) = 1/4 before moving to the resolution. Highlight the constant ratio drop over equal 3-minute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07 / 21):</a:t>
            </a:r>
          </a:p>
          <a:p>
            <a:r>
              <a:t>Use Apple Pencil on iPad to annotate the ratio arrows 60 -&gt; 15 -&gt; 3.75 on the temperature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08 / 21):</a:t>
            </a:r>
          </a:p>
          <a:p>
            <a:r>
              <a:t>Explain why the target is 20.5°F (within half a degree of 20°F). Emphasize that reaching 20°F exactly would take infinite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09 / 21):</a:t>
            </a:r>
          </a:p>
          <a:p>
            <a:r>
              <a:t>Show how ln(1/110) = -ln 110 and ln(2/11) = ln 2 - ln 11 are both negative, giving a positive elapsed time of 11.029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10 / 21):</a:t>
            </a:r>
          </a:p>
          <a:p>
            <a:r>
              <a:t>Use this slide as a live whiteboard. Pose a question to students: What if the object was brought inside from the cold into a warm room?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11 / 21):</a:t>
            </a:r>
          </a:p>
          <a:p>
            <a:r>
              <a:t>Introduce chemical conversion and nuclear decay. Clarify that the negative sign indicates loss of reactant or parent isotope.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12 / 21):</a:t>
            </a:r>
          </a:p>
          <a:p>
            <a:r>
              <a:t>Discuss why we can use a smooth continuous differential equation for discrete atomic decay. Explain the Law of Large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13 / 21):</a:t>
            </a:r>
          </a:p>
          <a:p>
            <a:r>
              <a:t>Highlight MATHalino Radium Problem 01. Warn students not to confuse 1.1% decomposed with 1.1% remaining.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14 / 21):</a:t>
            </a:r>
          </a:p>
          <a:p>
            <a:r>
              <a:t>Demonstrate the calculation. Explain that Radium-226 has a known half-life of ~1600 years, showing the high physical accuracy of MATHalino's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15 / 21):</a:t>
            </a:r>
          </a:p>
          <a:p>
            <a:r>
              <a:t>Present MATHalino Problem 02. Emphasize: 90% dissipated means exactly 10% remaining! Ask students to estimate how many half-lives this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16 / 21):</a:t>
            </a:r>
          </a:p>
          <a:p>
            <a:r>
              <a:t>Annotate the half-life milestones on the slide. Showing that 126.23 hr lies between 3 and 4 half-lives gives students immediate physical confidence in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17 / 21):</a:t>
            </a:r>
          </a:p>
          <a:p>
            <a:r>
              <a:t>Transition to the engineering extension topic from MATHalino. Explain why acceleration a is written as v dv/dr rather than dv/dt.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18 / 21):</a:t>
            </a:r>
          </a:p>
          <a:p>
            <a:r>
              <a:t>Derive v_esc = sqrt(2gR). Show how energy conservation and differential separation yield the identical escape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19 / 21):</a:t>
            </a:r>
          </a:p>
          <a:p>
            <a:r>
              <a:t>Summarize the 3 models side-by-side. Highlight the unity of first-order differential equations across physical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20 / 21):</a:t>
            </a:r>
          </a:p>
          <a:p>
            <a:r>
              <a:t>Open the floor for questions. Provide live derivations for any requested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NOTES &amp; GUIDED QUESTIONS (Slide 21 / 21):</a:t>
            </a:r>
          </a:p>
          <a:p>
            <a:r>
              <a:t>Credit MATHalino for all authentic source problems and numerical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01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Applications of Differential Equations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Elementary Applications of First-Order ODEs // Mathematical Modeling in Motion</a:t>
            </a:r>
          </a:p>
        </p:txBody>
      </p:sp>
      <p:pic>
        <p:nvPicPr>
          <p:cNvPr id="4" name="Picture 3" descr="Scene01_Intr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Dynamic Differential Modeling vs Static Snapshot Algebra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Rates of change define future physical trajectories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Primary source: MATHalino Engineering Mathematics Review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02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The 4-Step Mathematical Modeling Blueprint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From Empirical Observation to Analytical Prediction</a:t>
            </a:r>
          </a:p>
        </p:txBody>
      </p:sp>
      <p:pic>
        <p:nvPicPr>
          <p:cNvPr id="4" name="Picture 3" descr="Scene02_ModelingBlue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Step 1: State the physical proportionality law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Step 2: Formulate the differential equation with constant k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Step 3: Separate variables and integrate analytically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Step 4: Apply boundary/initial conditions to evaluate C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03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Separation of Variables Mathematical Engine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Transforming Differential Statements into Integrated Solution Families</a:t>
            </a:r>
          </a:p>
        </p:txBody>
      </p:sp>
      <p:pic>
        <p:nvPicPr>
          <p:cNvPr id="4" name="Picture 3" descr="Scene03_Separation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Standard separable form: dy/dt = g(y) h(t)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Group dependent terms on left: dy / g(y) = h(t) dt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Integrate both sides: ∫ dy/g(y) = ∫ h(t) dt + C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Solve explicitly for y(t) using inversion/logarithms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04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Newton's Law of Cooling: Physical Intuition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Thermal Driving Potential &amp; Asymptotic Decay Toward Ambient Temperature</a:t>
            </a:r>
          </a:p>
        </p:txBody>
      </p:sp>
      <p:pic>
        <p:nvPicPr>
          <p:cNvPr id="4" name="Picture 3" descr="cooling_final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Governing law: dT/dt = -k(T - Ts)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Driving force is the temperature difference (T - Ts)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Rate is fastest initially and decreases asymptotically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Ambient temperature Ts serves as a horizontal asymptote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Newton's Law of Cooling: Analytical Derivation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Continuous Equation Morphing from Rate Law to Explicit Solution</a:t>
            </a:r>
          </a:p>
        </p:txBody>
      </p:sp>
      <p:pic>
        <p:nvPicPr>
          <p:cNvPr id="4" name="Picture 3" descr="Scene04_NewtonCooling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Separated form: dT / (T - Ts) = -k dt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Integrating: ln(T - Ts) = -kt + ln C1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Exponentiating: T - Ts = C1 e^(-kt)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Initial condition: T(0) = T0 ⟹ C1 = T0 - Ts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Particular model: T(t) = Ts + (T0 - Ts) e^(-kt)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06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Mathalino Problem 01: Thermometer Reading After 6 Minutes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Given: Inside T₀ = 70°F, Outside Ts = 10°F, T(3) = 25°F. Find T(6).</a:t>
            </a:r>
          </a:p>
        </p:txBody>
      </p:sp>
      <p:pic>
        <p:nvPicPr>
          <p:cNvPr id="4" name="Picture 3" descr="Scene05_CoolingProblem1_Thermometer6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Model: T(t) = 10 + 60 e^(-kt)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At t = 3: 25 = 10 + 60 e^(-3k) ⟹ e^(-3k) = 1/4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Base model: T(t) = 10 + 60 (1/4)^(t/3)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Evaluation at t = 6: T(6) = 10 + 60(1/16) = 13.75°F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07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Problem 01 Resolution &amp; Ratio Invariance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Constant Interval Scaling Principle in First-Order Linear Systems</a:t>
            </a:r>
          </a:p>
        </p:txBody>
      </p:sp>
      <p:pic>
        <p:nvPicPr>
          <p:cNvPr id="4" name="Picture 3" descr="Scene05_CoolingProblem1_Thermometer6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Interval 0 to 3 min: ΔT drops from 60°F to 15°F (ratio = 1/4)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Interval 3 to 6 min: ΔT drops from 15°F to 3.75°F (ratio = 1/4)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Final Temperature: T(6) = 10 + 3.75 = 13.75°F exactly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Verified against MATHalino official engineering solution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08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Mathalino Problem 02: Time to Within Half Degree of Air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T₀ = 75°F, Ts = 20°F, T(4) = 30°F. Target: T = 20.5°F. Find elapsed time t.</a:t>
            </a:r>
          </a:p>
        </p:txBody>
      </p:sp>
      <p:pic>
        <p:nvPicPr>
          <p:cNvPr id="4" name="Picture 3" descr="Scene06_CoolingProblem2_HalfDeg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Model: T(t) = 20 + 55 e^(-kt)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At t = 4: 30 = 20 + 55 e^(-4k) ⟹ e^(-4k) = 10/55 = 2/11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Target condition: T(t) - 20 = 0.5°F ⟹ T = 20.5°F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Equation: 0.5 = 55 (2/11)^(t/4) ⟹ 1/110 = (2/11)^(t/4)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09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Problem 02 Logarithmic Resolution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Isolating Unknown Time Exponent via Natural Logarithms</a:t>
            </a:r>
          </a:p>
        </p:txBody>
      </p:sp>
      <p:pic>
        <p:nvPicPr>
          <p:cNvPr id="4" name="Picture 3" descr="Scene06_CoolingProblem2_HalfDeg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Logarithmic form: ln(1/110) = (t/4) ln(2/11)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Exact solution: t = 4 ln(1/110) / ln(2/11)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Numerical value: t ≈ 11.029 minutes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Independently verified against MATHalino records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Thermal Modeling Live Derivation Board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Instructor Apple Pencil Inking Space // Parameter Variations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LECTURE FOCUS &amp; CORE TAKEAWAYS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Explore heating scenarios where T0 &lt; Ts (dT/dt &gt; 0)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Examine how convection coefficients alter cooling rate k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Practice problem: Predict reading at t = 9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11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Simple Chemical Conversion &amp; Radioactive Decay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First-Order Dissipation Kinetics &amp; Unconverted Substance Remaining</a:t>
            </a:r>
          </a:p>
        </p:txBody>
      </p:sp>
      <p:pic>
        <p:nvPicPr>
          <p:cNvPr id="4" name="Picture 3" descr="Scene07_ChemicalConversion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Governing law: dx/dt = -kx (k &gt; 0)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x(t) represents remaining unconverted/undecayed substance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Separation: dx / x = -k dt ⟹ ln x = -kt + C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General solution: x(t) = x0 e^(-kt)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12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Stochastic Atoms vs Continuum Calculus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Bridging Quantum Indeterminacy and Macroscopic Exponential Decay</a:t>
            </a:r>
          </a:p>
        </p:txBody>
      </p:sp>
      <p:pic>
        <p:nvPicPr>
          <p:cNvPr id="4" name="Picture 3" descr="decay_final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Individual decay events are quantum and probabilistic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Avogadro-scale ensemble (10²³ atoms) yields smooth deterministic ODE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Remaining fraction x(t)/x0 follows strict exponential decay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Half-life t1/2 is independent of initial sample mass x0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13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Mathalino Decay Problem 01: Radium Half-Life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Given: 1.1% Decomposes in 25 Years (x(25) = 0.989 x₀). Find Half-Life.</a:t>
            </a:r>
          </a:p>
        </p:txBody>
      </p:sp>
      <p:pic>
        <p:nvPicPr>
          <p:cNvPr id="4" name="Picture 3" descr="Scene08_RadiumProblem1_Half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Decomposed fraction: 1.1% ⟹ Remaining fraction: 98.9% (0.989)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Condition at t = 25: 0.989 x0 = x0 e^(-25k) ⟹ e^(-k) = (0.989)^(1/25)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Decay model: x(t) = x0 (0.989)^(t/25)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Half-life definition: x(t) = 0.50 x0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14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Radium Half-Life Century-Scale Resolution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Calibrating a Multi-Millennium Geological Clock from a 25-Year Sample</a:t>
            </a:r>
          </a:p>
        </p:txBody>
      </p:sp>
      <p:pic>
        <p:nvPicPr>
          <p:cNvPr id="4" name="Picture 3" descr="Scene08_RadiumProblem1_Half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Setting x = 0.5 x0: 0.5 = (0.989)^(t/25)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Taking logarithms: 25 ln(0.5) = t ln(0.989)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Analytical solution: t = 25 ln(0.5) / ln(0.989)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Calculated half-life: t ≈ 1,566.65 years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Matches MATHalino reference solution exactly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15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Mathalino Decay Problem 02: 90% Radioactivity Dissipation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Given: Half-Life t₁/₂ = 38 Hours. Find Time for 90% to Dissipate.</a:t>
            </a:r>
          </a:p>
        </p:txBody>
      </p:sp>
      <p:pic>
        <p:nvPicPr>
          <p:cNvPr id="4" name="Picture 3" descr="Scene09_DecayProblem2_90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Base model using half-life: x(t) = x0 (0.5)^(t/38)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Critical terminology: 90% dissipated ⟹ 10% remaining (x = 0.10 x0)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Equation: 0.10 x0 = x0 (0.5)^(t/38) ⟹ 0.10 = 0.5^(t/38)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Target time: t = 38 ln(0.10) / ln(0.5) ≈ 126.23 hours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16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Problem 02 Threshold Resolution &amp; Milestone Check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Verification Against Consecutive Half-Life Milestones</a:t>
            </a:r>
          </a:p>
        </p:txBody>
      </p:sp>
      <p:pic>
        <p:nvPicPr>
          <p:cNvPr id="4" name="Picture 3" descr="Scene09_DecayProblem2_90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 = 38 hr (1 half-life): 50% remaining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 = 76 hr (2 half-lives): 25% remaining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 = 114 hr (3 half-lives): 12.5% remaining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 ≈ 126.23 hr (3.32 half-lives): 10.0% remaining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Verified against MATHalino official engineering solution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17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Engineering Physics Extension: Velocity of Escape from Earth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Primary MATHalino Index Topic // Vertical Motion Under Variable Gravity</a:t>
            </a:r>
          </a:p>
        </p:txBody>
      </p:sp>
      <p:pic>
        <p:nvPicPr>
          <p:cNvPr id="4" name="Picture 3" descr="Scene10_Escape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Newton's Gravitation: F = -m g R² / r²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Kinematic Chain Rule: a = dv/dt = v (dv/dr)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Governing DE: v (dv/dr) = -g R² / r²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Separation of variables: v dv = -g R² r^(-2) dr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18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Escape Velocity Analytical Resolution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Integrating to Infinity to Overcome the Planetary Gravitational Well</a:t>
            </a:r>
          </a:p>
        </p:txBody>
      </p:sp>
      <p:pic>
        <p:nvPicPr>
          <p:cNvPr id="4" name="Picture 3" descr="Scene10_Escape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Integrating: ∫ v dv = -g R² ∫ r^(-2) dr ⟹ (1/2)v² = g R² / r + C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Boundary condition at infinity: r ➔ ∞, v ≥ 0 ⟹ C ≥ 0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Surface launch (r = R): (1/2) v_esc² = g R ⟹ v_esc = √(2gR)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Numerical value: v_esc ≈ 11.18 km/s (6.95 mi/s ≈ 25,000 mph)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19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Master Comparative Modeling Matrix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Unified Differential Architecture Across Engineering Applications</a:t>
            </a:r>
          </a:p>
        </p:txBody>
      </p:sp>
      <p:pic>
        <p:nvPicPr>
          <p:cNvPr id="4" name="Picture 3" descr="Scene11_Synthesis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57200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MATHEMATICAL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Cooling: dT/dt = -k(T - Ts) ⟹ Asymptotic thermal balance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Decay: dx/dt = -kx ⟹ Invariant half-life dissipation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Escape: v dv/dr = -gR²/r² ⟹ Gravitational potential escape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All 3 solve cleanly via separation of variables</a:t>
            </a:r>
          </a:p>
          <a:p>
            <a:pPr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 Apple Pencil Annotation Zone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(Generous writing area for live derivations and class questions)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20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Lecture Summary &amp; Live Apple Pencil Q&amp;A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Core Engineering Takeaways &amp; Examination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LECTURE FOCUS &amp; CORE TAKEAWAYS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Always check units and physical domain constraints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Distinguish remaining fraction from dissipated fraction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Identify physical asymptotes before solving transcendental equations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21 / 21 // DIFFERENTIAL EQUATIONS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Curriculum References &amp; Academic Acknowledgements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</a:defRPr>
            </a:pPr>
            <a:r>
              <a:t>Primary Sources, Literature References &amp; Animation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LECTURE FOCUS &amp; CORE TAKEAWAYS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MATHalino Engineering Math Review (mathalino.com)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James Stewart, Calculus: Early Transcendentals (9th Ed.)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Boyce &amp; DiPrima, Elementary Differential Equations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3Blue1Brown (Grant Sanderson), Essence of Calculus 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