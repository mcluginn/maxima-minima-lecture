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REMARKS:</a:t>
            </a:r>
          </a:p>
          <a:p>
            <a:r>
              <a:t>Welcome students. Today we connect the geometry of motion with rigorous calculus.</a:t>
            </a:r>
          </a:p>
          <a:p>
            <a:r>
              <a:t>We will discover how derivatives act as velocity detectors for curves, why horizontal tangents can deceive us, and how engineering systems achieve peak efficiency through extremum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animation. Note how the probe ascends and descends. Highlight that slope is positive on ascent, zero at crests, negative on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Clarify that 'Local' requires an open ball (c-delta, c+delta), whereas 'Absolute' compares against all x in domain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f(x) = x^3 - 3x as the primary worked model. Point travels from x = -2.2 to x = 2.2, traversing a crest and a trough.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clip. Point out the color change of the tangent line: Cyan (positive slope) to Amber (zero slope) to Coral (negative slope).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Critical numbers occur where f'(c) = 0 OR where f'(c) does not exist (DNE), provided c is in the domain!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Tangent line goes horizontal at x=0, but the curve continues climbing. Zero derivative is NECESSARY, not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Point out how factoring reveals the exact roots where the velocity of the curve momentarily freezes.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The number line is partitioned by critical numbers into (-inf, -1), (-1, 1), and (1, inf).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Emphasize: f(-1) = (-1)^3 - 3(-1) = -1 + 3 = +2 -&gt; Local Max (-1, 2). f(1) = (1)^3 - 3(1) = -2 -&gt; Local Min (1, -2).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Note the two visual bowls: Concave Down (cap) with negative second derivative, Concave Up (cup) with positive second derivative.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EMPHASIS:</a:t>
            </a:r>
          </a:p>
          <a:p>
            <a:r>
              <a:t>Stress the 'Inconclusive' case: for f(x)=x^4, f''(0)=0 and it has a min.</a:t>
            </a:r>
          </a:p>
          <a:p>
            <a:r>
              <a:t>For f(x)=-x^4, f''(0)=0 and it has a max. For f(x)=x^3, f''(0)=0 and it has neither!</a:t>
            </a:r>
          </a:p>
          <a:p>
            <a:r>
              <a:t>If f''(c)=0, never guess. Revert immediately to the First Derivative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Candidate evaluation: interior critical point x=1 -&gt; f(1)=-2. Endpoints: x=-0.5 -&gt; f(-0.5)=1.375; x=2.5 -&gt; f(2.5)=8.125 (Winner!).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Highlight the engineering trade-off: at R_L = 0, current is maximum but voltage is 0 (P=0). At R_L = inf, voltage is maximum but current is 0 (P=0).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translating verbal problem statements into analytical mathematical functions, followed by first and second derivative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Geometric constraint reduces multivariable to single variable. With 1 natural boundary (river), optimal ratio is width = half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points must be tested against physical boundaries. x=10 is extraneous because 15-2(10) &lt;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Real-world business revenue optimization. Calculus discovers the pricing sweet spot between seat price and passenger occupancy.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civil and mechanical engineering channel design. Exact radical algebra simplified to decimal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WRAP-UP &amp; EXIT TICKET:</a:t>
            </a:r>
          </a:p>
          <a:p>
            <a:r>
              <a:t>Give students 4 minutes to work. Walk the room or annotate with Apple Pencil.</a:t>
            </a:r>
          </a:p>
          <a:p>
            <a:r>
              <a:t>Reveal the key insight: The local max (-1, 12) is soundly beaten by the endpoint (4, 37)!</a:t>
            </a:r>
          </a:p>
          <a:p>
            <a:r>
              <a:t>Remind students: Never neglect endpoints in engineering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DIFFERENTIAL CALCULUS FOR ENGINEERS</a:t>
            </a:r>
          </a:p>
          <a:p>
            <a:pPr>
              <a:spcBef>
                <a:spcPts val="1400"/>
              </a:spcBef>
              <a:defRPr sz="3600" b="1">
                <a:solidFill>
                  <a:srgbClr val="F8FAFC"/>
                </a:solidFill>
              </a:defRPr>
            </a:pPr>
            <a:r>
              <a:t>Maxima &amp; Minima: Dynamic Motion, Extrema Tests &amp; Optimization</a:t>
            </a:r>
          </a:p>
          <a:p>
            <a:pPr>
              <a:spcBef>
                <a:spcPts val="1400"/>
              </a:spcBef>
              <a:defRPr sz="1800">
                <a:solidFill>
                  <a:srgbClr val="F59E0B"/>
                </a:solidFill>
              </a:defRPr>
            </a:pPr>
            <a:r>
              <a:t>A Motion-Graphics Interactive Lecture Designed for Live iPad &amp; Apple Pencil Annotation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Core Function: f(x) = x³ - 3x  |  Applied Engineering &amp; Geometric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Lecture Trajectory: From Kinetic Intuition to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Visual Motion &amp; Critical Intuition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Moving tangent vectors, slope zero conditions, and singularities (corners/cusps).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5448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73736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First Derivative Test &amp; Sign Charts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Factorization morphing, interval sign sampling, and direction transitions.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5448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73736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3F5E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Second Derivative &amp; Concavity Bending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Differential curvature f''(x), concavity bowls, and inflection terraces.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55448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73736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04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Applied Engineering Optimization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Boundary constraints, revenue models, hydraulic channels, and impedance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Terrain Exploration: The Geometry of Peaks &amp; Valleys</a:t>
            </a:r>
          </a:p>
        </p:txBody>
      </p:sp>
      <p:pic>
        <p:nvPicPr>
          <p:cNvPr id="4" name="Scene01_HookHil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Identifying Extrema along an Elevation Profile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Ask the lecture hall: 'As our exploration probe traverses this mountain range, what exact instantaneous property characterizes the true summits and lowest valleys?'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Topological Definitions: Local vs. Absolute Extrema</a:t>
            </a:r>
          </a:p>
        </p:txBody>
      </p:sp>
      <p:pic>
        <p:nvPicPr>
          <p:cNvPr id="4" name="Scene02_LocalVsAbsolut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Open Neighborhoods vs. Entire Domain Supremum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Key Conceptual Question: 'Can a local maximum have a lower numerical value than a local minimum in the same function?'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Cubic Landscape: Trajectory of f(x) = x³ - 3x</a:t>
            </a:r>
          </a:p>
        </p:txBody>
      </p:sp>
      <p:pic>
        <p:nvPicPr>
          <p:cNvPr id="4" name="SignatureScene1_TheFunc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Tracking the Coordinate State of an Odd Cubic Curve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Observe the symmetry: f(-x) = -f(x). What does odd symmetry tell us about the relationship between maxima and minima?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Dynamic Tangent Telemetry &amp; Derivative f'(x)</a:t>
            </a:r>
          </a:p>
        </p:txBody>
      </p:sp>
      <p:pic>
        <p:nvPicPr>
          <p:cNvPr id="4" name="SignatureScene2_TheTangen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Visualizing the Derivative as an Instantaneous Rotating Vector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Notice the real-time slope readout: as the point passes x = -1, the slope m collapses precisely from positive to zero to negative.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Singularities: When Derivatives Fail to Exist</a:t>
            </a:r>
          </a:p>
        </p:txBody>
      </p:sp>
      <p:pic>
        <p:nvPicPr>
          <p:cNvPr id="4" name="Scene03_SingularitiesD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Critical Points Beyond Smooth Tangents: Corners &amp; Cusps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Critical Challenge: 'Does a curve need a smooth horizontal tangent to have an absolute minimum? Look at |x| and x^(2/3).'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Critical Trap: When f'(c) = 0 Yields NO Extremum</a:t>
            </a:r>
          </a:p>
        </p:txBody>
      </p:sp>
      <p:pic>
        <p:nvPicPr>
          <p:cNvPr id="4" name="SignatureScene7_Counterexamp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Stationary Inflection Point on g(x) = x³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Examine g(x) = x³: g'(0) = 0. The tangent is perfectly horizontal. Is (0, 0) a maximum or a minimum?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Algebraic Factoring: Zeroes of the Derivative</a:t>
            </a:r>
          </a:p>
        </p:txBody>
      </p:sp>
      <p:pic>
        <p:nvPicPr>
          <p:cNvPr id="4" name="SignatureScene3_EquationMorp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3x² - 3  ==&gt;  3(x² - 1)  ==&gt;  3(x - 1)(x + 1) = 0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Notice how the algebraic zeros x = -1 and x = +1 project vertically into physical coordinates on the function curve.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First Derivative Test: Dynamic Sign Partitioning</a:t>
            </a:r>
          </a:p>
        </p:txBody>
      </p:sp>
      <p:pic>
        <p:nvPicPr>
          <p:cNvPr id="4" name="SignatureScene4_DerivativeTes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Number Line Sampling &amp; Directional Transitions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Watch the sign chart reveal: positive slopes push the curve up, zero halts it, negative slopes pull it down.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Coordinate Verification: Locating Exact Extrema</a:t>
            </a:r>
          </a:p>
        </p:txBody>
      </p:sp>
      <p:pic>
        <p:nvPicPr>
          <p:cNvPr id="4" name="SignatureScene5_ExtremaRevea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Evaluating Critical Numbers in the ORIGINAL Function f(x)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Common blunder alert: Students plug x = -1 into f'(x) and get 0! Where must we substitute to find the height of the curve?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Second Derivative Test: Curvature &amp; Concavity Bending</a:t>
            </a:r>
          </a:p>
        </p:txBody>
      </p:sp>
      <p:pic>
        <p:nvPicPr>
          <p:cNvPr id="4" name="SignatureScene6_SecondDerivativ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f''(x) = 6x Measures the Rate of Change of Slope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Physical Intuition: If f'(x) = 0 and f''(x) &lt; 0, slopes are decreasing (positive -&gt; 0 -&gt; negative). The curve MUST be concave down (trapping a peak).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THEORETICAL COMPARISON // EXAM STRATEGY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Extrema Decision Matrix: 1st vs. 2nd Derivative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FIRST DERIVATIVE TEST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APPLICABILITY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Universal. Works for smooth points AND singularities (corners/cusps).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MECHANISM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Checks sign change of f'(x) across x = c.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OUTCOMES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(+ to -) =&gt; Local Max</a:t>
            </a:r>
            <a:br/>
            <a:r>
              <a:t>(- to +) =&gt; Local Min</a:t>
            </a:r>
            <a:br/>
            <a:r>
              <a:t>(No change) =&gt; Neither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LIMITATION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Requires picking test points in every interval.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VERDICT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Always reliable. Fallback when 2nd test fails.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SECOND DERIVATIVE TEST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APPLICABILITY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Restricted. Requires f'(c) = 0 and f''(c) to exist.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MECHANISM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Evaluates single point concavity f''(c) directly.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OUTCOMES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f''(c) &lt; 0 =&gt; Concave Down =&gt; Local Max</a:t>
            </a:r>
            <a:br/>
            <a:r>
              <a:t>f''(c) &gt; 0 =&gt; Concave Up =&gt; Local Min</a:t>
            </a:r>
            <a:br/>
            <a:r>
              <a:t>f''(c) = 0 =&gt; INCONCLUSIVE (Must use 1st test!)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LIMITATION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Fails on cusps, corners, and flat inflection points.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VERDICT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Faster when differentiation is easy, but fragile.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Closed Interval Method: The Extreme Value Theorem</a:t>
            </a:r>
          </a:p>
        </p:txBody>
      </p:sp>
      <p:pic>
        <p:nvPicPr>
          <p:cNvPr id="4" name="Scene04_ClosedIntervalMetho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f(x) = x³ - 3x Restricted to the Closed Interval [-0.5, 2.5]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Notice how the local maximum at x = -1 is EXCLUDED because it lies outside [-0.5, 2.5]! Where does the absolute maximum occur?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Engineering Optimization: Maximum Power Transfer Theorem</a:t>
            </a:r>
          </a:p>
        </p:txBody>
      </p:sp>
      <p:pic>
        <p:nvPicPr>
          <p:cNvPr id="4" name="Scene05_MaxPowerTransfe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Maximizing Load Power P(R_L) = V_th² * R_L / (R_th + R_L)²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Differentiating with the Quotient Rule reveals: dP/dR_L = 0 occurs precisely when R_load = R_thevenin! Impedance matching in RF and audio circuits.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Optimization 1: Number Exceeding its Square</a:t>
            </a:r>
          </a:p>
        </p:txBody>
      </p:sp>
      <p:pic>
        <p:nvPicPr>
          <p:cNvPr id="4" name="MathalinoProblem1_NumberOptimiz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What number exceeds its square by the maximum amount?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Objective f(x) = x - x². Differentiating f'(x) = 1 - 2x = 0 yields critical number x = 1/2. Concavity f''(x) = -2 &lt; 0 proves strict global maximum of 1/4.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Optimization 2: Riverbank Fencing &amp; Boundary Constraints</a:t>
            </a:r>
          </a:p>
        </p:txBody>
      </p:sp>
      <p:pic>
        <p:nvPicPr>
          <p:cNvPr id="4" name="MathalinoProblem2_RiverbankLo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Least fencing perimeter for fixed area A along a straight river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Area A = xy reduces perimeter P = x + 2y to single variable P(y) = A/y + 2y. Differentiating: dP/dy = -A/y² + 2 = 0 =&gt; 2y² = A = xy =&gt; Width y = x/2.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Optimization 3: Open-Top Box Volume Maximization</a:t>
            </a:r>
          </a:p>
        </p:txBody>
      </p:sp>
      <p:pic>
        <p:nvPicPr>
          <p:cNvPr id="4" name="MathalinoProblem3_OpenTopBox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15" × 24" Cardboard Sheet: Cut squares x to maximize Volume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V(x) = (24-2x)(15-2x)x = 4x³ - 78x² + 360x. Setting V'(x) = 0 yields x = 3 or x = 10. Feasible physical domain (0, 7.5) eliminates x = 10! V_max = 486 in³.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Optimization 4: Tour Bus Yield Management &amp; Revenue</a:t>
            </a:r>
          </a:p>
        </p:txBody>
      </p:sp>
      <p:pic>
        <p:nvPicPr>
          <p:cNvPr id="4" name="MathalinoProblem4_TourBusRevenu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80-Seat Tour Bus: Balancing ticket price vs. passenger demand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Base fare: P350/seat. Increments: P12.50/seat with -2 passengers. R(x) = (350 + 12.5x)(80 - 2x) = 28,000 + 300x - 25x². dR/dx = 0 =&gt; x = 6. Fare = P425, Revenue = P28,900.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Optimization 5: Trapezoidal Gutter Hydraulic Capacity</a:t>
            </a:r>
          </a:p>
        </p:txBody>
      </p:sp>
      <p:pic>
        <p:nvPicPr>
          <p:cNvPr id="4" name="MathalinoProblem5_TrapezoidalGutte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14-inch metal strip bent at 45°: Maximizing hydraulic carrying capacity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FOCUS &amp; CUES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Base a, sides s = (14-a)/2, height h = (14-a)/(2√2). Cross-section Area A = ah + h². Setting dA/da = 0 yields optimal base width a = 14(√2 - 1)/(2√2 - 1) ≈ 3.17 inches (slants s ≈ 5.41 inches).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[Annotate freely in Keynote with Apple Pencil]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STUDENT ACTIVE LEARNING // CONCEPT APPLICATION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Engineering Practice Challenge &amp; Exit Ticket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ACTIVE LEARNING CHALLENGE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Analyze the structural response function:</a:t>
            </a:r>
          </a:p>
          <a:p>
            <a:pPr>
              <a:spcBef>
                <a:spcPts val="800"/>
              </a:spcBef>
              <a:defRPr sz="1600" b="1">
                <a:solidFill>
                  <a:srgbClr val="38BDF8"/>
                </a:solidFill>
              </a:defRPr>
            </a:pPr>
            <a:r>
              <a:t>f(x) = 2x³ - 3x² - 12x + 5   on   [-2, 4]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1. Compute f'(x) and factor completely.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2. Identify all critical numbers inside [-2, 4].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3. Apply Second Derivative Test to classify local extrema.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4. Construct the EVT candidate table (criticals + endpoints).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5. Identify Global Maximum and Global Minimum coordinates.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508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850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SOLUTION CHECKLIST &amp; ANSWER KEY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DERIVATIVE: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f'(x) = 6x² - 6x - 12 = 6(x - 2)(x + 1)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CRITICAL NUMBERS: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x = -1   and   x = 2   (both inside [-2, 4])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SECOND DERIVATIVE: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f''(x) = 12x - 6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AT X = -1: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f''(-1) = -18 &lt; 0  =&gt;  Local Max at (-1, 12)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AT X = 2: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f''(2) = +18 &gt; 0   =&gt;  Local Min at (2, -15)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CANDIDATE TABLE: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f(-2) = 1</a:t>
            </a:r>
            <a:br/>
            <a:r>
              <a:t>f(-1) = 12</a:t>
            </a:r>
            <a:br/>
            <a:r>
              <a:t>f(2)  = -15</a:t>
            </a:r>
            <a:br/>
            <a:r>
              <a:t>f(4)  = 37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GLOBAL EXTREMA: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Global Max: (4, 37)  [Endpoint!]</a:t>
            </a:r>
            <a:br/>
            <a:r>
              <a:t>Global Min: (2, -15) [Interior Critical!]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BIBLIOGRAPHY // PROBLEM SOURCES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Curriculum References &amp; Academic Acknowledgements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PRIMARY APPLIED PROBLEM SOURCE: MATHALINO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The optimization case studies in this lecture are curated from the comprehensive engineering mathematics reviewer at Mathalino (mathalino.com):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• Problem 1: Number Exceeding Square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https://mathalino.com/reviewer/differential-calculus/01-04-number-problems-in-maxima-and-minima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• Problem 10: Riverbank Fencing Lot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https://mathalino.com/reviewer/differential-calculus/09-11-rectangular-lot-problems-in-maxima-and-minima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• Problem 16: Open-Top 15"x24" Box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https://mathalino.com/reviewer/differential-calculus/15-17-box-open-at-the-top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• Problem 03: 80-Seat Tour Bus Revenue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https://mathalino.com/reviewer/differential-calculus/03-maximum-revenue-tour-bus-80-seats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• Problem 42: Trapezoidal Gutter 14" Strip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https://mathalino.com/reviewer/differential-calculus/41-42-maxima-and-minima-problem-involving-a-trapezoidal-gutter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508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850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CALCULUS TEXTS &amp; VISUAL STANDARDS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James Stewart, Calculus: Early Transcendentals (9th Edition)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Fermat's Theorem, Extreme Value Theorem, First &amp; Second Derivative Tests, and optimization modeling frameworks.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3Blue1Brown (Grant Sanderson), Essence of Calculus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Kinematic visual intuition, rotating tangent vectors, geometric differential transformations, and continuous visual proofs.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Engineering Electrical &amp; Civil Reference Standards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Maximum Power Transfer Theorem (Jacobi's Law, 1840) and open-channel hydraulic trapezoidal flow optimization.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Instructional Presentation Platform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Rendered via Manim Community Edition v0.22.0. Native Apple PencilKit inking support in Apple Keynote on iPad.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